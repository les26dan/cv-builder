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9" r:id="rId6"/>
    <p:sldId id="278" r:id="rId7"/>
    <p:sldId id="263" r:id="rId8"/>
    <p:sldId id="261" r:id="rId9"/>
    <p:sldId id="262" r:id="rId10"/>
    <p:sldId id="274" r:id="rId11"/>
    <p:sldId id="275" r:id="rId12"/>
    <p:sldId id="273" r:id="rId13"/>
    <p:sldId id="277" r:id="rId14"/>
    <p:sldId id="276" r:id="rId15"/>
    <p:sldId id="265" r:id="rId16"/>
    <p:sldId id="266" r:id="rId17"/>
    <p:sldId id="267" r:id="rId18"/>
    <p:sldId id="268" r:id="rId19"/>
    <p:sldId id="270" r:id="rId20"/>
    <p:sldId id="271" r:id="rId21"/>
    <p:sldId id="272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ExtraBold" panose="02000000000000000000" pitchFamily="2" charset="0"/>
      <p:bold r:id="rId28"/>
      <p:italic r:id="rId29"/>
      <p:boldItalic r:id="rId30"/>
    </p:embeddedFont>
    <p:embeddedFont>
      <p:font typeface="Tahoma" panose="020B0604030504040204" pitchFamily="3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7dd68b055_0_8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7dd68b055_0_8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B7DC480B-DEA5-144B-C2A5-C5C74DC0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7dd68b055_0_849:notes">
            <a:extLst>
              <a:ext uri="{FF2B5EF4-FFF2-40B4-BE49-F238E27FC236}">
                <a16:creationId xmlns:a16="http://schemas.microsoft.com/office/drawing/2014/main" id="{AF176BE0-8272-5C29-71FD-05E29F905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7dd68b055_0_849:notes">
            <a:extLst>
              <a:ext uri="{FF2B5EF4-FFF2-40B4-BE49-F238E27FC236}">
                <a16:creationId xmlns:a16="http://schemas.microsoft.com/office/drawing/2014/main" id="{07880B9E-DD8E-758D-0653-E3E5AF66B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4758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70E8681F-DE7C-D50E-EB00-C6D3D7E4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48A54F84-87AB-1D75-BAA0-885A022046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3:notes">
            <a:extLst>
              <a:ext uri="{FF2B5EF4-FFF2-40B4-BE49-F238E27FC236}">
                <a16:creationId xmlns:a16="http://schemas.microsoft.com/office/drawing/2014/main" id="{9A47FCB6-4F5E-EA4A-E624-A7B47CEA2D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373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7dd68b055_0_8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e7dd68b055_0_8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dd68b055_0_8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7dd68b055_0_8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428990E-0949-BC08-5AFD-C02D1FD2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dd68b055_0_855:notes">
            <a:extLst>
              <a:ext uri="{FF2B5EF4-FFF2-40B4-BE49-F238E27FC236}">
                <a16:creationId xmlns:a16="http://schemas.microsoft.com/office/drawing/2014/main" id="{09C5641B-C7F7-8D35-F66E-3790F4F91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7dd68b055_0_855:notes">
            <a:extLst>
              <a:ext uri="{FF2B5EF4-FFF2-40B4-BE49-F238E27FC236}">
                <a16:creationId xmlns:a16="http://schemas.microsoft.com/office/drawing/2014/main" id="{7C62A9B8-E7F5-A72A-C0AE-60FDBC84F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347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76AAB5A-09E5-F5FD-4CA8-BE00336F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dd68b055_0_855:notes">
            <a:extLst>
              <a:ext uri="{FF2B5EF4-FFF2-40B4-BE49-F238E27FC236}">
                <a16:creationId xmlns:a16="http://schemas.microsoft.com/office/drawing/2014/main" id="{6361F86B-A235-DE34-1251-C9748A81B6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7dd68b055_0_855:notes">
            <a:extLst>
              <a:ext uri="{FF2B5EF4-FFF2-40B4-BE49-F238E27FC236}">
                <a16:creationId xmlns:a16="http://schemas.microsoft.com/office/drawing/2014/main" id="{0A9C6072-D2F9-393E-FC97-F72AC4714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823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01B42F2-B7ED-965C-4B72-490FBACC1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dd68b055_0_855:notes">
            <a:extLst>
              <a:ext uri="{FF2B5EF4-FFF2-40B4-BE49-F238E27FC236}">
                <a16:creationId xmlns:a16="http://schemas.microsoft.com/office/drawing/2014/main" id="{60272D78-B7C6-0348-C521-581EA25B58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7dd68b055_0_855:notes">
            <a:extLst>
              <a:ext uri="{FF2B5EF4-FFF2-40B4-BE49-F238E27FC236}">
                <a16:creationId xmlns:a16="http://schemas.microsoft.com/office/drawing/2014/main" id="{D40AF4E5-D272-1B9B-677E-A58858829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7902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AF87A61-4847-6ACE-6077-6C1DC097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dd68b055_0_855:notes">
            <a:extLst>
              <a:ext uri="{FF2B5EF4-FFF2-40B4-BE49-F238E27FC236}">
                <a16:creationId xmlns:a16="http://schemas.microsoft.com/office/drawing/2014/main" id="{46A3B123-5166-28C8-1BD9-B90CAED7E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7dd68b055_0_855:notes">
            <a:extLst>
              <a:ext uri="{FF2B5EF4-FFF2-40B4-BE49-F238E27FC236}">
                <a16:creationId xmlns:a16="http://schemas.microsoft.com/office/drawing/2014/main" id="{BA464A30-8DF5-520E-C780-D74C33FC53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4980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A4DF282-4010-DF2E-F86F-2A025220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dd68b055_0_855:notes">
            <a:extLst>
              <a:ext uri="{FF2B5EF4-FFF2-40B4-BE49-F238E27FC236}">
                <a16:creationId xmlns:a16="http://schemas.microsoft.com/office/drawing/2014/main" id="{16BECB9E-38FC-335F-D9FB-9101EF98D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7dd68b055_0_855:notes">
            <a:extLst>
              <a:ext uri="{FF2B5EF4-FFF2-40B4-BE49-F238E27FC236}">
                <a16:creationId xmlns:a16="http://schemas.microsoft.com/office/drawing/2014/main" id="{CD29D3A1-EF83-D31E-E9A8-3FDAA7C951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0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7dd68b055_0_1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7dd68b055_0_1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7dd68b055_0_1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e7dd68b055_0_1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7dd68b055_0_1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e7dd68b055_0_1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7dd68b055_0_1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7dd68b055_0_1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7dd68b055_0_1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e7dd68b055_0_1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7dd68b055_0_1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e7dd68b055_0_1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512115" y="202285"/>
            <a:ext cx="81198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 b="1" i="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424434" y="1121536"/>
            <a:ext cx="8295300" cy="25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2D2D2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45769" y="4775657"/>
            <a:ext cx="22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2540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2540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2540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540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540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540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2540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2540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254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709" y="490728"/>
            <a:ext cx="248008" cy="412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9507" y="4629150"/>
            <a:ext cx="3865180" cy="51434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2241677" y="407734"/>
            <a:ext cx="51255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325" rIns="0" bIns="0" anchor="t" anchorCtr="0">
            <a:spAutoFit/>
          </a:bodyPr>
          <a:lstStyle/>
          <a:p>
            <a:pPr marL="1270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VNU University of Engineering and Technology Faculty of Information Technology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72975" y="3554762"/>
            <a:ext cx="5632200" cy="755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2D2D2D"/>
                </a:solidFill>
                <a:latin typeface="Roboto"/>
                <a:ea typeface="Roboto"/>
                <a:cs typeface="Roboto"/>
                <a:sym typeface="Roboto"/>
              </a:rPr>
              <a:t>Sinh viên: Lê Sỹ Đan - 20020044</a:t>
            </a:r>
            <a:endParaRPr sz="15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2D2D2D"/>
                </a:solidFill>
                <a:latin typeface="Roboto"/>
                <a:ea typeface="Roboto"/>
                <a:cs typeface="Roboto"/>
                <a:sym typeface="Roboto"/>
              </a:rPr>
              <a:t>Giảng viên hướng dẫn: TS. Ma Thị Châu &amp; TS. Nguyễn Quang Trung</a:t>
            </a:r>
            <a:endParaRPr sz="15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390" y="316992"/>
            <a:ext cx="762762" cy="76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24355" y="316991"/>
            <a:ext cx="760476" cy="76047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54963" y="1662600"/>
            <a:ext cx="81465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Ứng dụng xây dựng Hồ sơ việc làm
bằng Mô hình Ngôn ngữ lớn</a:t>
            </a:r>
            <a:endParaRPr sz="3200" i="0" u="none" strike="noStrike" cap="none">
              <a:solidFill>
                <a:srgbClr val="2D2D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419550" y="102550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2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Nội dung trình bày</a:t>
            </a:r>
            <a:endParaRPr sz="4020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419550" y="1017825"/>
            <a:ext cx="8304600" cy="37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20040" y="960120"/>
            <a:ext cx="1463040" cy="3566160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79" y="102412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79" y="15544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Bối cảnh &amp; Vấn đề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79" y="233172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Roboto"/>
              </a:rPr>
              <a:t>Tại sao cần xây dựng hệ thống này?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84248" y="960120"/>
            <a:ext cx="1463040" cy="3566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75688" y="102412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75688" y="15544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Tính năng Ứng dụng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75688" y="233172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Roboto"/>
              </a:rPr>
              <a:t>Upload, soạn thảo, xuất CV, so sánh JD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48456" y="960120"/>
            <a:ext cx="1463040" cy="3566160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39896" y="102412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39896" y="15544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Demo Hệ thống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39896" y="233172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Roboto"/>
              </a:rPr>
              <a:t>Trực tiếp tại localhost:3000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12664" y="960120"/>
            <a:ext cx="1463040" cy="3566160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404103" y="102412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04103" y="15544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Thí nghiệm so khớp CV–JD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04103" y="2331720"/>
            <a:ext cx="1280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CCDDFF"/>
                </a:solidFill>
                <a:latin typeface="Roboto"/>
              </a:rPr>
              <a:t>400 </a:t>
            </a:r>
            <a:r>
              <a:rPr sz="1100" b="0" dirty="0" err="1">
                <a:solidFill>
                  <a:srgbClr val="CCDDFF"/>
                </a:solidFill>
                <a:latin typeface="Roboto"/>
              </a:rPr>
              <a:t>cặp</a:t>
            </a:r>
            <a:r>
              <a:rPr sz="1100" b="0" dirty="0">
                <a:solidFill>
                  <a:srgbClr val="CCDDFF"/>
                </a:solidFill>
                <a:latin typeface="Roboto"/>
              </a:rPr>
              <a:t>, 3 </a:t>
            </a:r>
            <a:r>
              <a:rPr sz="1100" b="0" dirty="0" err="1">
                <a:solidFill>
                  <a:srgbClr val="CCDDFF"/>
                </a:solidFill>
                <a:latin typeface="Roboto"/>
              </a:rPr>
              <a:t>phương</a:t>
            </a:r>
            <a:r>
              <a:rPr sz="1100" b="0" dirty="0">
                <a:solidFill>
                  <a:srgbClr val="CCDDFF"/>
                </a:solidFill>
                <a:latin typeface="Roboto"/>
              </a:rPr>
              <a:t> </a:t>
            </a:r>
            <a:r>
              <a:rPr sz="1100" b="0" dirty="0" err="1">
                <a:solidFill>
                  <a:srgbClr val="CCDDFF"/>
                </a:solidFill>
                <a:latin typeface="Roboto"/>
              </a:rPr>
              <a:t>pháp</a:t>
            </a:r>
            <a:r>
              <a:rPr sz="1100" b="0" dirty="0">
                <a:solidFill>
                  <a:srgbClr val="CCDDFF"/>
                </a:solidFill>
                <a:latin typeface="Roboto"/>
              </a:rPr>
              <a:t>,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76872" y="960120"/>
            <a:ext cx="1463040" cy="3566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068312" y="102412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68312" y="15544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Kết luận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68312" y="2331720"/>
            <a:ext cx="1280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Roboto"/>
              </a:rPr>
              <a:t>Kết quả đạt được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Bối cảnh &amp; Vấn đề</a:t>
            </a:r>
            <a:endParaRPr sz="69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Phần 01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419550" y="102550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Tại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sao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cần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hệ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thống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này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b="1" dirty="0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19550" y="1420550"/>
            <a:ext cx="4152600" cy="3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20040" y="868680"/>
            <a:ext cx="3017520" cy="1371600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11480" y="9144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Roboto"/>
              </a:rPr>
              <a:t>75%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1480" y="16420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Roboto"/>
              </a:rPr>
              <a:t>CV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bị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loại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tự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động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trước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khi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đến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tay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nhà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tuyển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dụng</a:t>
            </a:r>
            <a:endParaRPr sz="12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20040" y="2331720"/>
            <a:ext cx="3017520" cy="1051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11480" y="2377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Roboto"/>
              </a:rPr>
              <a:t>99%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" y="27889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Roboto"/>
              </a:rPr>
              <a:t>Fortune 500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dùng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ATS
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để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lọc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CV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tự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động</a:t>
            </a:r>
            <a:endParaRPr sz="12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20040" y="3456432"/>
            <a:ext cx="3017520" cy="868680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11480" y="362102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FFFFFF"/>
                </a:solidFill>
                <a:latin typeface="Roboto"/>
              </a:rPr>
              <a:t>Resume.io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, Canva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giúp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CV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đẹp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nhưng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không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phân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Roboto"/>
              </a:rPr>
              <a:t>tích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CV–JD</a:t>
            </a:r>
          </a:p>
        </p:txBody>
      </p:sp>
      <p:graphicFrame>
        <p:nvGraphicFramePr>
          <p:cNvPr id="96" name="Table 95"/>
          <p:cNvGraphicFramePr>
            <a:graphicFrameLocks noGrp="1"/>
          </p:cNvGraphicFramePr>
          <p:nvPr/>
        </p:nvGraphicFramePr>
        <p:xfrm>
          <a:off x="3520440" y="841248"/>
          <a:ext cx="5321808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Tính năng</a:t>
                      </a:r>
                    </a:p>
                  </a:txBody>
                  <a:tcPr>
                    <a:solidFill>
                      <a:srgbClr val="0049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Resume.io</a:t>
                      </a:r>
                    </a:p>
                  </a:txBody>
                  <a:tcPr>
                    <a:solidFill>
                      <a:srgbClr val="0049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Enhancv</a:t>
                      </a:r>
                    </a:p>
                  </a:txBody>
                  <a:tcPr>
                    <a:solidFill>
                      <a:srgbClr val="0049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OSS</a:t>
                      </a:r>
                    </a:p>
                  </a:txBody>
                  <a:tcPr>
                    <a:solidFill>
                      <a:srgbClr val="0049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Khóa luận</a:t>
                      </a:r>
                    </a:p>
                  </a:txBody>
                  <a:tcPr>
                    <a:solidFill>
                      <a:srgbClr val="004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Roboto"/>
                        </a:rPr>
                        <a:t>Phân tích CV bằng LLM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  <a:endParaRPr sz="1000" b="0" dirty="0">
                        <a:solidFill>
                          <a:srgbClr val="AA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Roboto"/>
                        </a:rPr>
                        <a:t>Một phần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Roboto"/>
                        </a:rPr>
                        <a:t>So sánh CV–JD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2D2D2D"/>
                          </a:solidFill>
                          <a:latin typeface="Roboto"/>
                        </a:rPr>
                        <a:t>Một</a:t>
                      </a:r>
                      <a:r>
                        <a:rPr sz="1000" b="0" dirty="0">
                          <a:solidFill>
                            <a:srgbClr val="2D2D2D"/>
                          </a:solidFill>
                          <a:latin typeface="Roboto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D2D2D"/>
                          </a:solidFill>
                          <a:latin typeface="Roboto"/>
                        </a:rPr>
                        <a:t>phần</a:t>
                      </a:r>
                      <a:endParaRPr sz="1000" b="0" dirty="0">
                        <a:solidFill>
                          <a:srgbClr val="2D2D2D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D2D2D"/>
                          </a:solidFill>
                          <a:latin typeface="Roboto"/>
                        </a:rPr>
                        <a:t>Soạn</a:t>
                      </a:r>
                      <a:r>
                        <a:rPr sz="1000" b="0" dirty="0">
                          <a:solidFill>
                            <a:srgbClr val="2D2D2D"/>
                          </a:solidFill>
                          <a:latin typeface="Roboto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D2D2D"/>
                          </a:solidFill>
                          <a:latin typeface="Roboto"/>
                        </a:rPr>
                        <a:t>thảo</a:t>
                      </a:r>
                      <a:r>
                        <a:rPr sz="1000" b="0" dirty="0">
                          <a:solidFill>
                            <a:srgbClr val="2D2D2D"/>
                          </a:solidFill>
                          <a:latin typeface="Roboto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D2D2D"/>
                          </a:solidFill>
                          <a:latin typeface="Roboto"/>
                        </a:rPr>
                        <a:t>kéo</a:t>
                      </a:r>
                      <a:r>
                        <a:rPr sz="1000" b="0" dirty="0">
                          <a:solidFill>
                            <a:srgbClr val="2D2D2D"/>
                          </a:solidFill>
                          <a:latin typeface="Roboto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D2D2D"/>
                          </a:solidFill>
                          <a:latin typeface="Roboto"/>
                        </a:rPr>
                        <a:t>thả</a:t>
                      </a:r>
                      <a:endParaRPr sz="1000" b="0" dirty="0">
                        <a:solidFill>
                          <a:srgbClr val="2D2D2D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Roboto"/>
                        </a:rPr>
                        <a:t>Xuất PDF &amp; 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Roboto"/>
                        </a:rPr>
                        <a:t>Hỗ trợ tiếng Việt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Roboto"/>
                        </a:rPr>
                        <a:t>Dùng không cần đăng ký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Roboto"/>
                        </a:rPr>
                        <a:t>Miễn phí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0000"/>
                          </a:solidFill>
                          <a:latin typeface="Roboto"/>
                        </a:rPr>
                        <a:t>Không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0D6E00"/>
                          </a:solidFill>
                          <a:latin typeface="Roboto"/>
                        </a:rPr>
                        <a:t>Có</a:t>
                      </a:r>
                      <a:endParaRPr sz="1000" b="1" dirty="0">
                        <a:solidFill>
                          <a:srgbClr val="0D6E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24489BC6-9DBC-F88D-A65D-B89B05E1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E1E315FD-74A8-494C-B957-330FA574B7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1A3587-5846-745E-80AD-C609139AD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25425"/>
            <a:ext cx="7772400" cy="3437792"/>
          </a:xfrm>
          <a:prstGeom prst="rect">
            <a:avLst/>
          </a:prstGeom>
        </p:spPr>
      </p:pic>
      <p:sp>
        <p:nvSpPr>
          <p:cNvPr id="8" name="Google Shape;85;p17">
            <a:extLst>
              <a:ext uri="{FF2B5EF4-FFF2-40B4-BE49-F238E27FC236}">
                <a16:creationId xmlns:a16="http://schemas.microsoft.com/office/drawing/2014/main" id="{E2B09079-F600-B811-7428-8656E3CD2D6A}"/>
              </a:ext>
            </a:extLst>
          </p:cNvPr>
          <p:cNvSpPr txBox="1">
            <a:spLocks/>
          </p:cNvSpPr>
          <p:nvPr/>
        </p:nvSpPr>
        <p:spPr>
          <a:xfrm>
            <a:off x="419700" y="317235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Công </a:t>
            </a:r>
            <a:r>
              <a:rPr lang="en-US" sz="2800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nghệ</a:t>
            </a:r>
            <a:r>
              <a:rPr lang="en-US" sz="2800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800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sử</a:t>
            </a:r>
            <a:r>
              <a:rPr lang="en-US" sz="2800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800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dụng</a:t>
            </a:r>
            <a:endParaRPr lang="en-US" sz="2800" b="1" dirty="0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8083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74CF177C-B759-6988-F2D3-B017AA701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DF7BC9BE-B0D8-1F34-CCA1-2D154D2787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550" y="102550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Tại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Pipeline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phân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tích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CV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hyb</a:t>
            </a:r>
            <a:r>
              <a:rPr lang="en-US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ri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1" dirty="0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BAA53A33-37D0-D32A-2EF2-2419C2472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9550" y="1420550"/>
            <a:ext cx="4152600" cy="3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028FEF92-C1FF-8F7B-6B13-0D65BF4076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E9B52FF-A307-1DE7-330C-F4FF97E94FB3}"/>
              </a:ext>
            </a:extLst>
          </p:cNvPr>
          <p:cNvSpPr txBox="1"/>
          <p:nvPr/>
        </p:nvSpPr>
        <p:spPr>
          <a:xfrm>
            <a:off x="411480" y="9144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Roboto"/>
              </a:rPr>
              <a:t>75%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C809D94-190A-AD09-72E9-2AAEA713F17C}"/>
              </a:ext>
            </a:extLst>
          </p:cNvPr>
          <p:cNvSpPr txBox="1"/>
          <p:nvPr/>
        </p:nvSpPr>
        <p:spPr>
          <a:xfrm>
            <a:off x="411480" y="237744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Roboto"/>
              </a:rPr>
              <a:t>9%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C2790A-41F2-48CC-0C06-1335E3D08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135" y="730513"/>
            <a:ext cx="5304293" cy="405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47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419550" y="102550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Tính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năng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1: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Xác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thực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&amp; Guest Mode</a:t>
            </a:r>
            <a:endParaRPr b="1" dirty="0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pic>
        <p:nvPicPr>
          <p:cNvPr id="146" name="Picture 145" descr="02_login.png"/>
          <p:cNvPicPr>
            <a:picLocks noChangeAspect="1"/>
          </p:cNvPicPr>
          <p:nvPr/>
        </p:nvPicPr>
        <p:blipFill>
          <a:blip r:embed="rId3"/>
          <a:srcRect l="24430" b="3646"/>
          <a:stretch>
            <a:fillRect/>
          </a:stretch>
        </p:blipFill>
        <p:spPr>
          <a:xfrm>
            <a:off x="318051" y="1317926"/>
            <a:ext cx="3794929" cy="2956893"/>
          </a:xfrm>
          <a:prstGeom prst="rect">
            <a:avLst/>
          </a:prstGeom>
        </p:spPr>
      </p:pic>
      <p:sp>
        <p:nvSpPr>
          <p:cNvPr id="147" name="Rectangle 146"/>
          <p:cNvSpPr/>
          <p:nvPr/>
        </p:nvSpPr>
        <p:spPr>
          <a:xfrm>
            <a:off x="4206240" y="1004899"/>
            <a:ext cx="4266218" cy="961901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4297679" y="1059764"/>
            <a:ext cx="41330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OAuth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15968" y="1370660"/>
            <a:ext cx="409651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dirty="0">
                <a:solidFill>
                  <a:srgbClr val="FFFFFF"/>
                </a:solidFill>
                <a:latin typeface="Roboto"/>
              </a:rPr>
              <a:t>Google — 1 click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FFFFFF"/>
                </a:solidFill>
                <a:latin typeface="Roboto"/>
              </a:rPr>
              <a:t>Email +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mật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khẩu</a:t>
            </a:r>
            <a:endParaRPr sz="110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4206240" y="2068941"/>
            <a:ext cx="4266218" cy="1107041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4297679" y="2123806"/>
            <a:ext cx="41330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Guest Session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315968" y="2434702"/>
            <a:ext cx="40965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FFFFFF"/>
                </a:solidFill>
                <a:latin typeface="Roboto"/>
              </a:rPr>
              <a:t>Dùng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ngay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không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cần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đăng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ký</a:t>
            </a:r>
            <a:endParaRPr sz="1100" dirty="0">
              <a:solidFill>
                <a:srgbClr val="FFFFFF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FFFFFF"/>
                </a:solidFill>
                <a:latin typeface="Roboto"/>
              </a:rPr>
              <a:t>Dữ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liệu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lưu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trên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localStorage</a:t>
            </a:r>
            <a:endParaRPr sz="1100" dirty="0">
              <a:solidFill>
                <a:srgbClr val="FFFFFF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FFFFFF"/>
                </a:solidFill>
                <a:latin typeface="Roboto"/>
              </a:rPr>
              <a:t>Có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thể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đăng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ký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sau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để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lưu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lâu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dài</a:t>
            </a:r>
            <a:endParaRPr sz="110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4206240" y="3300984"/>
            <a:ext cx="4266218" cy="973836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297679" y="3409462"/>
            <a:ext cx="41330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Roboto"/>
              </a:rPr>
              <a:t>Bảo </a:t>
            </a:r>
            <a:r>
              <a:rPr sz="1300" b="1" dirty="0" err="1">
                <a:solidFill>
                  <a:srgbClr val="FFFFFF"/>
                </a:solidFill>
                <a:latin typeface="Roboto"/>
              </a:rPr>
              <a:t>mật</a:t>
            </a:r>
            <a:endParaRPr sz="13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4297679" y="3703320"/>
            <a:ext cx="409651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dirty="0">
                <a:solidFill>
                  <a:srgbClr val="FFFFFF"/>
                </a:solidFill>
                <a:latin typeface="Roboto"/>
              </a:rPr>
              <a:t>Row Level Security (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Supabase</a:t>
            </a:r>
            <a:r>
              <a:rPr sz="1100" dirty="0">
                <a:solidFill>
                  <a:srgbClr val="FFFFFF"/>
                </a:solidFill>
                <a:latin typeface="Roboto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FFFFFF"/>
                </a:solidFill>
                <a:latin typeface="Roboto"/>
              </a:rPr>
              <a:t>Mỗi</a:t>
            </a:r>
            <a:r>
              <a:rPr sz="1100" dirty="0">
                <a:solidFill>
                  <a:srgbClr val="FFFFFF"/>
                </a:solidFill>
                <a:latin typeface="Roboto"/>
              </a:rPr>
              <a:t> user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chỉ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đọc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được</a:t>
            </a:r>
            <a:r>
              <a:rPr sz="1100" dirty="0">
                <a:solidFill>
                  <a:srgbClr val="FFFFFF"/>
                </a:solidFill>
                <a:latin typeface="Roboto"/>
              </a:rPr>
              <a:t> CV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của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mình</a:t>
            </a:r>
            <a:endParaRPr sz="1100" dirty="0">
              <a:solidFill>
                <a:srgbClr val="FFFFFF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419550" y="102550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Tính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năng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2: Upload &amp;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Phân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tích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CV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tự</a:t>
            </a:r>
            <a:r>
              <a:rPr lang="en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động</a:t>
            </a:r>
            <a:endParaRPr b="1" dirty="0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pic>
        <p:nvPicPr>
          <p:cNvPr id="125" name="Picture 124" descr="04_upload_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4160520" cy="361188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709160" y="868680"/>
            <a:ext cx="3703320" cy="475488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800600" y="9144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PDF / DOCX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709160" y="1508760"/>
            <a:ext cx="1719072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754880" y="1536192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Regex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693408" y="1508760"/>
            <a:ext cx="1719072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739128" y="1536192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GPT-4o-mini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709160" y="2148840"/>
            <a:ext cx="1719072" cy="658368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754880" y="2176272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Roboto"/>
              </a:rPr>
              <a:t>email
phone, LinkedIn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693408" y="2148840"/>
            <a:ext cx="1719072" cy="658368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739128" y="2176272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 err="1">
                <a:solidFill>
                  <a:srgbClr val="FFFFFF"/>
                </a:solidFill>
                <a:latin typeface="Roboto"/>
              </a:rPr>
              <a:t>kinh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nghiệm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học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vấn</a:t>
            </a:r>
            <a:endParaRPr sz="11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4709160" y="2990088"/>
            <a:ext cx="3703320" cy="475488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800600" y="30175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CV có cấu trúc → Lưu DB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542532" y="1344168"/>
            <a:ext cx="36576" cy="164591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550408" y="1344168"/>
            <a:ext cx="36576" cy="164591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7580376" y="1344168"/>
            <a:ext cx="36576" cy="164591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550408" y="2807208"/>
            <a:ext cx="36576" cy="182880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7580376" y="2807208"/>
            <a:ext cx="36576" cy="182880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4709160" y="3630168"/>
            <a:ext cx="3703320" cy="566928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4800600" y="3657600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FF8F00"/>
                </a:solidFill>
                <a:latin typeface="Roboto"/>
              </a:rPr>
              <a:t>Tiết</a:t>
            </a:r>
            <a:r>
              <a:rPr sz="1200" b="1" dirty="0">
                <a:solidFill>
                  <a:srgbClr val="FF8F00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FF8F00"/>
                </a:solidFill>
                <a:latin typeface="Roboto"/>
              </a:rPr>
              <a:t>kiệm</a:t>
            </a:r>
            <a:r>
              <a:rPr sz="1200" b="1" dirty="0">
                <a:solidFill>
                  <a:srgbClr val="FF8F00"/>
                </a:solidFill>
                <a:latin typeface="Roboto"/>
              </a:rPr>
              <a:t> token </a:t>
            </a:r>
            <a:r>
              <a:rPr lang="vi-VN" sz="1200" b="1" dirty="0">
                <a:solidFill>
                  <a:srgbClr val="FF8F00"/>
                </a:solidFill>
                <a:latin typeface="Roboto"/>
              </a:rPr>
              <a:t>– Vẫn giữ cấu trúc</a:t>
            </a:r>
            <a:endParaRPr sz="1200" b="1" dirty="0">
              <a:solidFill>
                <a:srgbClr val="FF8F00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ctrTitle"/>
          </p:nvPr>
        </p:nvSpPr>
        <p:spPr>
          <a:xfrm>
            <a:off x="320040" y="-910396"/>
            <a:ext cx="8440690" cy="17027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Tính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năng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3: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Soạn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thảo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CV</a:t>
            </a:r>
            <a:endParaRPr sz="40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38" name="Google Shape;138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833872" y="1659748"/>
            <a:ext cx="2633472" cy="1051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5925312" y="1714612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Soạn thảo thông minh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943600" y="2025508"/>
            <a:ext cx="241401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Kéo thả sắp xếp section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Auto-save sau 2 giây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Preview A4 real-time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833872" y="3118104"/>
            <a:ext cx="2651760" cy="930894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943600" y="3172968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Xuất CV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961888" y="3483864"/>
            <a:ext cx="2414015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dirty="0">
                <a:solidFill>
                  <a:srgbClr val="FFFFFF"/>
                </a:solidFill>
                <a:latin typeface="Roboto"/>
              </a:rPr>
              <a:t>PDF 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FFFFFF"/>
                </a:solidFill>
                <a:latin typeface="Roboto"/>
              </a:rPr>
              <a:t>DOCX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để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chỉnh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thêm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trong</a:t>
            </a:r>
            <a:r>
              <a:rPr sz="1100" dirty="0">
                <a:solidFill>
                  <a:srgbClr val="FFFFFF"/>
                </a:solidFill>
                <a:latin typeface="Roboto"/>
              </a:rPr>
              <a:t> Word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54D6D0-4580-E61D-5B4D-3D529EE78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951743"/>
            <a:ext cx="4204253" cy="37950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62EFB08-00A9-C783-5D26-6BA55842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>
            <a:extLst>
              <a:ext uri="{FF2B5EF4-FFF2-40B4-BE49-F238E27FC236}">
                <a16:creationId xmlns:a16="http://schemas.microsoft.com/office/drawing/2014/main" id="{A089F609-3CD7-133E-39E9-3E77F79C10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0040" y="-910396"/>
            <a:ext cx="8440690" cy="17027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Tính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năng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4: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Chấm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điểm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CV</a:t>
            </a:r>
            <a:endParaRPr sz="40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38" name="Google Shape;138;p20">
            <a:extLst>
              <a:ext uri="{FF2B5EF4-FFF2-40B4-BE49-F238E27FC236}">
                <a16:creationId xmlns:a16="http://schemas.microsoft.com/office/drawing/2014/main" id="{B83FA3A0-8318-B662-C6F5-956461752D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139" name="Google Shape;139;p20">
            <a:extLst>
              <a:ext uri="{FF2B5EF4-FFF2-40B4-BE49-F238E27FC236}">
                <a16:creationId xmlns:a16="http://schemas.microsoft.com/office/drawing/2014/main" id="{803F533A-4A89-F4C0-6B8F-BE05811369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93A22FB-AB34-22EE-860A-80014AE2C406}"/>
              </a:ext>
            </a:extLst>
          </p:cNvPr>
          <p:cNvSpPr/>
          <p:nvPr/>
        </p:nvSpPr>
        <p:spPr>
          <a:xfrm>
            <a:off x="5832302" y="2248314"/>
            <a:ext cx="2638586" cy="126424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8859139-6A6B-98AF-E66C-9D8AC5EEC18A}"/>
              </a:ext>
            </a:extLst>
          </p:cNvPr>
          <p:cNvSpPr txBox="1"/>
          <p:nvPr/>
        </p:nvSpPr>
        <p:spPr>
          <a:xfrm>
            <a:off x="5832302" y="2362470"/>
            <a:ext cx="27280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300" b="1" dirty="0">
                <a:solidFill>
                  <a:srgbClr val="FFFFFF"/>
                </a:solidFill>
                <a:latin typeface="Roboto"/>
              </a:rPr>
              <a:t>Chấm điểm CV chi tiết từng phần</a:t>
            </a:r>
          </a:p>
          <a:p>
            <a:pPr algn="l"/>
            <a:endParaRPr sz="13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C856487-2151-EB0C-744B-9BCF30FE29DE}"/>
              </a:ext>
            </a:extLst>
          </p:cNvPr>
          <p:cNvSpPr txBox="1"/>
          <p:nvPr/>
        </p:nvSpPr>
        <p:spPr>
          <a:xfrm>
            <a:off x="5923742" y="2741867"/>
            <a:ext cx="2414015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Điểm mạnh</a:t>
            </a: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Điểm cần cải thiện</a:t>
            </a: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Đưa ra đễ xuất sửa đôi</a:t>
            </a:r>
          </a:p>
          <a:p>
            <a:pPr>
              <a:spcAft>
                <a:spcPts val="300"/>
              </a:spcAft>
            </a:pPr>
            <a:endParaRPr sz="1100" dirty="0">
              <a:solidFill>
                <a:srgbClr val="FFFFFF"/>
              </a:solidFill>
              <a:latin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368F96-5ADE-E9D2-29F0-EB44C1C83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05" y="921836"/>
            <a:ext cx="4536015" cy="38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62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C6ED4B1-AA31-694F-6DE6-E486462D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>
            <a:extLst>
              <a:ext uri="{FF2B5EF4-FFF2-40B4-BE49-F238E27FC236}">
                <a16:creationId xmlns:a16="http://schemas.microsoft.com/office/drawing/2014/main" id="{9FD40080-9EA5-1534-CFF0-405140EB31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0040" y="-910396"/>
            <a:ext cx="8440690" cy="17027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Tính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năng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5: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Phân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tích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CV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dựa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trên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Job Description</a:t>
            </a:r>
            <a:endParaRPr sz="40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38" name="Google Shape;138;p20">
            <a:extLst>
              <a:ext uri="{FF2B5EF4-FFF2-40B4-BE49-F238E27FC236}">
                <a16:creationId xmlns:a16="http://schemas.microsoft.com/office/drawing/2014/main" id="{DFE2CD6E-9EB1-C2B3-61FD-D6E226D17C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139" name="Google Shape;139;p20">
            <a:extLst>
              <a:ext uri="{FF2B5EF4-FFF2-40B4-BE49-F238E27FC236}">
                <a16:creationId xmlns:a16="http://schemas.microsoft.com/office/drawing/2014/main" id="{98CCE389-6417-D0CF-F6DE-C2156509B5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A8E9D7-087B-F6BA-7A53-69BE84F04F8C}"/>
              </a:ext>
            </a:extLst>
          </p:cNvPr>
          <p:cNvSpPr/>
          <p:nvPr/>
        </p:nvSpPr>
        <p:spPr>
          <a:xfrm>
            <a:off x="5832302" y="2248314"/>
            <a:ext cx="2638586" cy="12979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ECB7E0F-E209-DF5B-0AA8-F156E1AD9993}"/>
              </a:ext>
            </a:extLst>
          </p:cNvPr>
          <p:cNvSpPr txBox="1"/>
          <p:nvPr/>
        </p:nvSpPr>
        <p:spPr>
          <a:xfrm>
            <a:off x="5832302" y="2362470"/>
            <a:ext cx="272809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300" b="1" dirty="0">
                <a:solidFill>
                  <a:srgbClr val="FFFFFF"/>
                </a:solidFill>
                <a:latin typeface="Roboto"/>
              </a:rPr>
              <a:t>Phân tích độ phù hợp</a:t>
            </a:r>
            <a:endParaRPr sz="13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BF7FFB5-09F1-2E59-B9B4-87DA04B3C83E}"/>
              </a:ext>
            </a:extLst>
          </p:cNvPr>
          <p:cNvSpPr txBox="1"/>
          <p:nvPr/>
        </p:nvSpPr>
        <p:spPr>
          <a:xfrm>
            <a:off x="5923742" y="2741867"/>
            <a:ext cx="2414015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Từ khoá còn thiếu</a:t>
            </a: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Từ khoá đã có</a:t>
            </a: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Gợi ý bổ sung kinh nghiệm còn thiếu</a:t>
            </a:r>
          </a:p>
          <a:p>
            <a:pPr>
              <a:spcAft>
                <a:spcPts val="300"/>
              </a:spcAft>
            </a:pPr>
            <a:endParaRPr sz="1100" dirty="0">
              <a:solidFill>
                <a:srgbClr val="FFFFFF"/>
              </a:solidFill>
              <a:latin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C089E8-AF31-EDCC-5D31-811EFF92F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12" y="1041550"/>
            <a:ext cx="4415527" cy="362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59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4B4DB20-5BD8-C6D1-C848-F7960F9A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>
            <a:extLst>
              <a:ext uri="{FF2B5EF4-FFF2-40B4-BE49-F238E27FC236}">
                <a16:creationId xmlns:a16="http://schemas.microsoft.com/office/drawing/2014/main" id="{5EBCAF9F-2CBD-3F70-24C0-549CD281435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0040" y="-910396"/>
            <a:ext cx="8440690" cy="17027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Tính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năng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6: Quản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lý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CV</a:t>
            </a:r>
            <a:endParaRPr sz="40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38" name="Google Shape;138;p20">
            <a:extLst>
              <a:ext uri="{FF2B5EF4-FFF2-40B4-BE49-F238E27FC236}">
                <a16:creationId xmlns:a16="http://schemas.microsoft.com/office/drawing/2014/main" id="{0E9CD8C3-6970-F349-7094-D0EF24C0DE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139" name="Google Shape;139;p20">
            <a:extLst>
              <a:ext uri="{FF2B5EF4-FFF2-40B4-BE49-F238E27FC236}">
                <a16:creationId xmlns:a16="http://schemas.microsoft.com/office/drawing/2014/main" id="{CF9BB520-FD49-CF4F-8383-DCB50C81EE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40" name="Picture 139" descr="03_workspace_auth.png">
            <a:extLst>
              <a:ext uri="{FF2B5EF4-FFF2-40B4-BE49-F238E27FC236}">
                <a16:creationId xmlns:a16="http://schemas.microsoft.com/office/drawing/2014/main" id="{2F178C90-9B6D-E244-457B-BF4DA9260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6" y="841247"/>
            <a:ext cx="5528144" cy="3764857"/>
          </a:xfrm>
          <a:prstGeom prst="rect">
            <a:avLst/>
          </a:prstGeom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39238306-FC96-804B-3CAA-C87696553C42}"/>
              </a:ext>
            </a:extLst>
          </p:cNvPr>
          <p:cNvSpPr/>
          <p:nvPr/>
        </p:nvSpPr>
        <p:spPr>
          <a:xfrm>
            <a:off x="5911194" y="2308345"/>
            <a:ext cx="2633472" cy="1051560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F8DE078-C506-6506-81EA-13347C4778A2}"/>
              </a:ext>
            </a:extLst>
          </p:cNvPr>
          <p:cNvSpPr txBox="1"/>
          <p:nvPr/>
        </p:nvSpPr>
        <p:spPr>
          <a:xfrm>
            <a:off x="6002634" y="2363209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Quản lý nhiều CV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01F2C4E-B87D-7338-5AE0-2805F392104D}"/>
              </a:ext>
            </a:extLst>
          </p:cNvPr>
          <p:cNvSpPr txBox="1"/>
          <p:nvPr/>
        </p:nvSpPr>
        <p:spPr>
          <a:xfrm>
            <a:off x="6020922" y="2674105"/>
            <a:ext cx="241401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Mỗi user có nhiều CV riêng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Tiến trình từng bước rõ ràng</a:t>
            </a:r>
          </a:p>
        </p:txBody>
      </p:sp>
    </p:spTree>
    <p:extLst>
      <p:ext uri="{BB962C8B-B14F-4D97-AF65-F5344CB8AC3E}">
        <p14:creationId xmlns:p14="http://schemas.microsoft.com/office/powerpoint/2010/main" val="452414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9EF89F3-E235-5966-1EB4-FD3A4CD0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>
            <a:extLst>
              <a:ext uri="{FF2B5EF4-FFF2-40B4-BE49-F238E27FC236}">
                <a16:creationId xmlns:a16="http://schemas.microsoft.com/office/drawing/2014/main" id="{8184B96C-3D65-C5FA-00FF-5734EC19C08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0040" y="-910396"/>
            <a:ext cx="8440690" cy="17027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Tính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năng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7: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Gợi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ý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nâng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cấp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CV</a:t>
            </a:r>
            <a:endParaRPr sz="40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38" name="Google Shape;138;p20">
            <a:extLst>
              <a:ext uri="{FF2B5EF4-FFF2-40B4-BE49-F238E27FC236}">
                <a16:creationId xmlns:a16="http://schemas.microsoft.com/office/drawing/2014/main" id="{8C7AC44B-AF41-B007-5F21-4C9083066E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139" name="Google Shape;139;p20">
            <a:extLst>
              <a:ext uri="{FF2B5EF4-FFF2-40B4-BE49-F238E27FC236}">
                <a16:creationId xmlns:a16="http://schemas.microsoft.com/office/drawing/2014/main" id="{B7B85E39-14D3-F53B-4E74-FC2ADF49BC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1CAFB2-06E7-4465-6EB9-0EC2045C9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01962"/>
            <a:ext cx="4856259" cy="31957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97E4CC-E33C-24F7-4C2A-73766A7C32BE}"/>
              </a:ext>
            </a:extLst>
          </p:cNvPr>
          <p:cNvSpPr/>
          <p:nvPr/>
        </p:nvSpPr>
        <p:spPr>
          <a:xfrm>
            <a:off x="5832302" y="2248314"/>
            <a:ext cx="2638586" cy="12979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D479A-849B-3B9B-4C34-F74E4A1E4AC7}"/>
              </a:ext>
            </a:extLst>
          </p:cNvPr>
          <p:cNvSpPr txBox="1"/>
          <p:nvPr/>
        </p:nvSpPr>
        <p:spPr>
          <a:xfrm>
            <a:off x="5832302" y="2362470"/>
            <a:ext cx="27280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300" b="1" dirty="0">
                <a:solidFill>
                  <a:srgbClr val="FFFFFF"/>
                </a:solidFill>
                <a:latin typeface="Roboto"/>
              </a:rPr>
              <a:t>Tự động gợi ý mô tả</a:t>
            </a:r>
          </a:p>
          <a:p>
            <a:pPr algn="l"/>
            <a:endParaRPr sz="13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9D5A4-15BD-FE71-D856-41636E795559}"/>
              </a:ext>
            </a:extLst>
          </p:cNvPr>
          <p:cNvSpPr txBox="1"/>
          <p:nvPr/>
        </p:nvSpPr>
        <p:spPr>
          <a:xfrm>
            <a:off x="5923742" y="2741867"/>
            <a:ext cx="2414015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VN" sz="1100" dirty="0">
                <a:solidFill>
                  <a:srgbClr val="FFFFFF"/>
                </a:solidFill>
                <a:latin typeface="Roboto"/>
              </a:rPr>
              <a:t>Hỗ trợ 4 gợi ý để người dùng có thể lựa chọn và chỉnh sửa câu từ phù hợp nhất với bản thân</a:t>
            </a:r>
          </a:p>
          <a:p>
            <a:pPr>
              <a:spcAft>
                <a:spcPts val="300"/>
              </a:spcAft>
            </a:pPr>
            <a:endParaRPr sz="1100" dirty="0">
              <a:solidFill>
                <a:srgbClr val="FFFFFF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80167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83E3BAE-438E-473F-C155-207193C7E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>
            <a:extLst>
              <a:ext uri="{FF2B5EF4-FFF2-40B4-BE49-F238E27FC236}">
                <a16:creationId xmlns:a16="http://schemas.microsoft.com/office/drawing/2014/main" id="{0A482BE1-01CC-A508-C34A-049CE4512F5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0040" y="-910396"/>
            <a:ext cx="8440690" cy="17027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Tính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năng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8: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Tuỳ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chỉnh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giao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en" sz="2800" dirty="0" err="1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diện</a:t>
            </a:r>
            <a:r>
              <a:rPr lang="en" sz="2800" dirty="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CV</a:t>
            </a:r>
            <a:endParaRPr sz="40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38" name="Google Shape;138;p20">
            <a:extLst>
              <a:ext uri="{FF2B5EF4-FFF2-40B4-BE49-F238E27FC236}">
                <a16:creationId xmlns:a16="http://schemas.microsoft.com/office/drawing/2014/main" id="{329ECB53-D6E7-74A4-BD73-ECEAECD638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139" name="Google Shape;139;p20">
            <a:extLst>
              <a:ext uri="{FF2B5EF4-FFF2-40B4-BE49-F238E27FC236}">
                <a16:creationId xmlns:a16="http://schemas.microsoft.com/office/drawing/2014/main" id="{93EF799E-0FD1-F2DA-CD35-02EF383693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CF38092-B3E5-3176-AAC0-EDE2CDDAD49A}"/>
              </a:ext>
            </a:extLst>
          </p:cNvPr>
          <p:cNvSpPr/>
          <p:nvPr/>
        </p:nvSpPr>
        <p:spPr>
          <a:xfrm>
            <a:off x="5832302" y="2248313"/>
            <a:ext cx="2728092" cy="1702743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0D6BDF4-6188-F983-D911-0B88F02748BB}"/>
              </a:ext>
            </a:extLst>
          </p:cNvPr>
          <p:cNvSpPr txBox="1"/>
          <p:nvPr/>
        </p:nvSpPr>
        <p:spPr>
          <a:xfrm>
            <a:off x="5832302" y="2362470"/>
            <a:ext cx="27280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300" b="1" dirty="0">
                <a:solidFill>
                  <a:srgbClr val="FFFFFF"/>
                </a:solidFill>
                <a:latin typeface="Roboto"/>
              </a:rPr>
              <a:t>Tuỳ chỉnh giao diện theo template</a:t>
            </a:r>
          </a:p>
          <a:p>
            <a:pPr algn="l"/>
            <a:endParaRPr sz="13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469A5C8-8C1E-7FFF-6D32-A3B7B5F33854}"/>
              </a:ext>
            </a:extLst>
          </p:cNvPr>
          <p:cNvSpPr txBox="1"/>
          <p:nvPr/>
        </p:nvSpPr>
        <p:spPr>
          <a:xfrm>
            <a:off x="5923742" y="2741867"/>
            <a:ext cx="2414015" cy="1300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Cổ điển</a:t>
            </a: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Hai cột</a:t>
            </a: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Tối giản</a:t>
            </a: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Timeline</a:t>
            </a: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FFFFFF"/>
                </a:solidFill>
                <a:latin typeface="Roboto"/>
              </a:rPr>
              <a:t>Chuyên nghiệp</a:t>
            </a:r>
          </a:p>
          <a:p>
            <a:pPr>
              <a:spcAft>
                <a:spcPts val="300"/>
              </a:spcAft>
            </a:pPr>
            <a:endParaRPr sz="1100" dirty="0">
              <a:solidFill>
                <a:srgbClr val="FFFFFF"/>
              </a:solidFill>
              <a:latin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EC2B2C-7E30-5A46-E60C-83ED4F9D1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51" y="928504"/>
            <a:ext cx="3506634" cy="362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31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Thí nghiệm So khớp CV–JD</a:t>
            </a:r>
            <a:endParaRPr sz="69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Phần 04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>
            <a:spLocks noGrp="1"/>
          </p:cNvSpPr>
          <p:nvPr>
            <p:ph type="title"/>
          </p:nvPr>
        </p:nvSpPr>
        <p:spPr>
          <a:xfrm>
            <a:off x="419550" y="102550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20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Thiết</a:t>
            </a:r>
            <a:r>
              <a:rPr lang="en" sz="4020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4020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kế</a:t>
            </a:r>
            <a:r>
              <a:rPr lang="en" sz="4020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4020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thí</a:t>
            </a:r>
            <a:r>
              <a:rPr lang="en" sz="4020" b="1" dirty="0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4020" b="1" dirty="0" err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nghiệm</a:t>
            </a:r>
            <a:endParaRPr sz="4020" b="1" dirty="0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20040" y="868680"/>
            <a:ext cx="3657600" cy="502920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11479" y="8961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Kaggle Resume Dataset — 400 cặp CV–JD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20040" y="1508760"/>
            <a:ext cx="1691640" cy="47548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365759" y="153619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49AC"/>
                </a:solidFill>
                <a:latin typeface="Roboto"/>
              </a:rPr>
              <a:t>200 cặp
POSITIVE (cùng ngành)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286000" y="1508760"/>
            <a:ext cx="1691640" cy="47548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2331720" y="153619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0000"/>
                </a:solidFill>
                <a:latin typeface="Roboto"/>
              </a:rPr>
              <a:t>200 cặp
NEGATIVE (khác ngành)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130552" y="1371600"/>
            <a:ext cx="36576" cy="137159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320040" y="2176272"/>
            <a:ext cx="1078992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365759" y="2194560"/>
            <a:ext cx="987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TF-IDF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609343" y="2176272"/>
            <a:ext cx="1078992" cy="457200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655064" y="2194560"/>
            <a:ext cx="987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Embedding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898648" y="2176272"/>
            <a:ext cx="1078992" cy="457200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2944368" y="2194560"/>
            <a:ext cx="987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LLM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130552" y="1984248"/>
            <a:ext cx="36576" cy="192023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320040" y="2816352"/>
            <a:ext cx="365760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411479" y="2834640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Roboto"/>
              </a:rPr>
              <a:t>ROC-AUC · F1 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130552" y="2633472"/>
            <a:ext cx="36576" cy="182880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4251960" y="868680"/>
            <a:ext cx="4133087" cy="100552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4343400" y="923544"/>
            <a:ext cx="39502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Roboto"/>
              </a:rPr>
              <a:t>TF-IDF — Đếm trùng từ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361688" y="1234440"/>
            <a:ext cx="39136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Cosine similarity trên bag-of-words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Nhanh &lt; 1ms, miễn phí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Không hiểu ngữ nghĩa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251960" y="1947357"/>
            <a:ext cx="4133087" cy="1209688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4343400" y="2002222"/>
            <a:ext cx="39502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Roboto"/>
              </a:rPr>
              <a:t>Embedding — So sánh nghĩa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361688" y="2313118"/>
            <a:ext cx="39136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dirty="0">
                <a:solidFill>
                  <a:srgbClr val="FFFFFF"/>
                </a:solidFill>
                <a:latin typeface="Roboto"/>
              </a:rPr>
              <a:t>OpenAI text-embedding-3-small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FFFFFF"/>
                </a:solidFill>
                <a:latin typeface="Roboto"/>
              </a:rPr>
              <a:t>1536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chiều</a:t>
            </a:r>
            <a:r>
              <a:rPr sz="1100" dirty="0">
                <a:solidFill>
                  <a:srgbClr val="FFFFFF"/>
                </a:solidFill>
                <a:latin typeface="Roboto"/>
              </a:rPr>
              <a:t>,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hiểu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ngữ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cảnh</a:t>
            </a:r>
            <a:endParaRPr sz="1100" dirty="0">
              <a:solidFill>
                <a:srgbClr val="FFFFFF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FFFFFF"/>
                </a:solidFill>
                <a:latin typeface="Roboto"/>
              </a:rPr>
              <a:t>Cached → 0ms,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miễn</a:t>
            </a:r>
            <a:r>
              <a:rPr sz="110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Roboto"/>
              </a:rPr>
              <a:t>phí</a:t>
            </a:r>
            <a:endParaRPr sz="110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4251960" y="3268980"/>
            <a:ext cx="4133087" cy="1060703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4343400" y="3323844"/>
            <a:ext cx="39502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Roboto"/>
              </a:rPr>
              <a:t>LLM — </a:t>
            </a:r>
            <a:r>
              <a:rPr sz="1200" b="1" dirty="0" err="1">
                <a:solidFill>
                  <a:srgbClr val="FFFFFF"/>
                </a:solidFill>
                <a:latin typeface="Roboto"/>
              </a:rPr>
              <a:t>Nhờ</a:t>
            </a:r>
            <a:r>
              <a:rPr sz="1200" b="1" dirty="0">
                <a:solidFill>
                  <a:srgbClr val="FFFFFF"/>
                </a:solidFill>
                <a:latin typeface="Roboto"/>
              </a:rPr>
              <a:t> AI </a:t>
            </a:r>
            <a:r>
              <a:rPr sz="1200" b="1" dirty="0" err="1">
                <a:solidFill>
                  <a:srgbClr val="FFFFFF"/>
                </a:solidFill>
                <a:latin typeface="Roboto"/>
              </a:rPr>
              <a:t>chấm</a:t>
            </a:r>
            <a:r>
              <a:rPr sz="12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Roboto"/>
              </a:rPr>
              <a:t>điểm</a:t>
            </a:r>
            <a:endParaRPr sz="12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4361688" y="3634740"/>
            <a:ext cx="3913631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GPT-4o-mini trả điểm 0–10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Chậm (p50=2.5s)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Roboto"/>
              </a:rPr>
              <a:t>$0.28 / 1000 cặp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419550" y="102550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20" b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Kết quả: Chất lượng Xếp hạng</a:t>
            </a:r>
            <a:endParaRPr sz="4020" b="1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graphicFrame>
        <p:nvGraphicFramePr>
          <p:cNvPr id="184" name="Table 183"/>
          <p:cNvGraphicFramePr>
            <a:graphicFrameLocks noGrp="1"/>
          </p:cNvGraphicFramePr>
          <p:nvPr/>
        </p:nvGraphicFramePr>
        <p:xfrm>
          <a:off x="731520" y="960120"/>
          <a:ext cx="7086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Phương pháp</a:t>
                      </a:r>
                    </a:p>
                  </a:txBody>
                  <a:tcPr>
                    <a:solidFill>
                      <a:srgbClr val="0049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ROC-AUC</a:t>
                      </a:r>
                    </a:p>
                  </a:txBody>
                  <a:tcPr>
                    <a:solidFill>
                      <a:srgbClr val="0049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F1</a:t>
                      </a:r>
                    </a:p>
                  </a:txBody>
                  <a:tcPr>
                    <a:solidFill>
                      <a:srgbClr val="0049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P@10</a:t>
                      </a:r>
                    </a:p>
                  </a:txBody>
                  <a:tcPr>
                    <a:solidFill>
                      <a:srgbClr val="004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Roboto"/>
                        </a:rPr>
                        <a:t>TF-IDF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2D2D"/>
                          </a:solidFill>
                          <a:latin typeface="Roboto"/>
                        </a:rPr>
                        <a:t>0.755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2D2D"/>
                          </a:solidFill>
                          <a:latin typeface="Roboto"/>
                        </a:rPr>
                        <a:t>0.695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2D2D"/>
                          </a:solidFill>
                          <a:latin typeface="Roboto"/>
                        </a:rPr>
                        <a:t>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49AC"/>
                          </a:solidFill>
                          <a:latin typeface="Roboto"/>
                        </a:rPr>
                        <a:t>Embedding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D6E00"/>
                          </a:solidFill>
                          <a:latin typeface="Roboto"/>
                        </a:rPr>
                        <a:t>0.766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49AC"/>
                          </a:solidFill>
                          <a:latin typeface="Roboto"/>
                        </a:rPr>
                        <a:t>0.695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49AC"/>
                          </a:solidFill>
                          <a:latin typeface="Roboto"/>
                        </a:rPr>
                        <a:t>1.0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D2D2D"/>
                          </a:solidFill>
                          <a:latin typeface="Roboto"/>
                        </a:rPr>
                        <a:t>LLM Scoring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2D2D"/>
                          </a:solidFill>
                          <a:latin typeface="Roboto"/>
                        </a:rPr>
                        <a:t>0.755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6F00"/>
                          </a:solidFill>
                          <a:latin typeface="Roboto"/>
                        </a:rPr>
                        <a:t>0.717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D2D2D"/>
                          </a:solidFill>
                          <a:latin typeface="Roboto"/>
                        </a:rPr>
                        <a:t>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7" name="Rectangle 186"/>
          <p:cNvSpPr/>
          <p:nvPr/>
        </p:nvSpPr>
        <p:spPr>
          <a:xfrm>
            <a:off x="731520" y="3561588"/>
            <a:ext cx="3364992" cy="621792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822960" y="3589021"/>
            <a:ext cx="3182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Embedding: chất lượng xếp hạng tốt nhất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279392" y="3561588"/>
            <a:ext cx="3538728" cy="62179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4370832" y="3589021"/>
            <a:ext cx="33558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LLM: phân loại tốt nhất (F1=0.717)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ctrTitle"/>
          </p:nvPr>
        </p:nvSpPr>
        <p:spPr>
          <a:xfrm>
            <a:off x="311700" y="-138483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49AC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Kết quả: Chi phí &amp; Tốc độ</a:t>
            </a:r>
            <a:endParaRPr sz="28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90" name="Google Shape;190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731520" y="89611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49AC"/>
                </a:solidFill>
                <a:latin typeface="Roboto"/>
              </a:rPr>
              <a:t>Thời gian phản hồi (p50, ms)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31520" y="12618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Roboto"/>
              </a:rPr>
              <a:t>TF-IDF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286000" y="1261872"/>
            <a:ext cx="73152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2404872" y="12618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Roboto"/>
              </a:rPr>
              <a:t>1 ms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286000" y="1664207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6E00"/>
                </a:solidFill>
                <a:latin typeface="Roboto"/>
              </a:rPr>
              <a:t>  Miễn phí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31520" y="224942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Roboto"/>
              </a:rPr>
              <a:t>Embedding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286000" y="2249424"/>
            <a:ext cx="73152" cy="384048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2404872" y="2249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Roboto"/>
              </a:rPr>
              <a:t>~0 ms (cached)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286000" y="26517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6E00"/>
                </a:solidFill>
                <a:latin typeface="Roboto"/>
              </a:rPr>
              <a:t>  Miễn phí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31520" y="323697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Roboto"/>
              </a:rPr>
              <a:t>LLM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286000" y="3236976"/>
            <a:ext cx="566928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8001000" y="32369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Roboto"/>
              </a:rPr>
              <a:t>2527 ms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286000" y="36393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0000"/>
                </a:solidFill>
                <a:latin typeface="Roboto"/>
              </a:rPr>
              <a:t>  $0.28/1000 cặp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731520" y="3977639"/>
            <a:ext cx="7086600" cy="658368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68680" y="4005072"/>
            <a:ext cx="6812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Roboto"/>
              </a:rPr>
              <a:t>Embedding: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chất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lượng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cao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nhất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+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tốc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độ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nhanh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nhất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+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miễn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Roboto"/>
              </a:rPr>
              <a:t>phí</a:t>
            </a:r>
            <a:r>
              <a:rPr sz="1400" b="1" dirty="0">
                <a:solidFill>
                  <a:srgbClr val="FFFFFF"/>
                </a:solidFill>
                <a:latin typeface="Roboto"/>
              </a:rPr>
              <a:t>  </a:t>
            </a:r>
            <a:endParaRPr lang="vi-VN" b="1" dirty="0">
              <a:solidFill>
                <a:srgbClr val="FFFFFF"/>
              </a:solidFill>
              <a:latin typeface="Roboto"/>
            </a:endParaRPr>
          </a:p>
          <a:p>
            <a:pPr algn="ctr"/>
            <a:endParaRPr sz="1400" b="1" dirty="0">
              <a:solidFill>
                <a:srgbClr val="FFFFFF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419550" y="102550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20" b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Tóm tắt Kết quả</a:t>
            </a:r>
            <a:endParaRPr sz="4020" b="1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320040" y="914400"/>
            <a:ext cx="4133087" cy="1755648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411479" y="969264"/>
            <a:ext cx="39502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"/>
              </a:rPr>
              <a:t>Hybrid CV Parser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29768" y="1316736"/>
            <a:ext cx="3913631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dirty="0" err="1">
                <a:solidFill>
                  <a:srgbClr val="FFFFFF"/>
                </a:solidFill>
                <a:latin typeface="Roboto"/>
              </a:rPr>
              <a:t>Tiết</a:t>
            </a:r>
            <a:r>
              <a:rPr sz="120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kiệm</a:t>
            </a:r>
            <a:r>
              <a:rPr sz="1200" dirty="0">
                <a:solidFill>
                  <a:srgbClr val="FFFFFF"/>
                </a:solidFill>
                <a:latin typeface="Roboto"/>
              </a:rPr>
              <a:t> API</a:t>
            </a:r>
          </a:p>
          <a:p>
            <a:pPr>
              <a:spcAft>
                <a:spcPts val="300"/>
              </a:spcAft>
            </a:pPr>
            <a:r>
              <a:rPr lang="vi-VN" sz="1200" dirty="0">
                <a:solidFill>
                  <a:srgbClr val="FFFFFF"/>
                </a:solidFill>
                <a:latin typeface="Roboto"/>
              </a:rPr>
              <a:t>Giữ được độ chính xác từ CV gốc</a:t>
            </a:r>
            <a:endParaRPr sz="1200" dirty="0">
              <a:solidFill>
                <a:srgbClr val="FFFFFF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FFFFFF"/>
                </a:solidFill>
                <a:latin typeface="Roboto"/>
              </a:rPr>
              <a:t>Regex + GPT-4o-mini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690872" y="914400"/>
            <a:ext cx="4133087" cy="17556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4782312" y="969264"/>
            <a:ext cx="39502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Roboto"/>
              </a:rPr>
              <a:t>CV Editor &amp; Export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82312" y="1334801"/>
            <a:ext cx="3913631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dirty="0" err="1">
                <a:solidFill>
                  <a:srgbClr val="FFFFFF"/>
                </a:solidFill>
                <a:latin typeface="Roboto"/>
              </a:rPr>
              <a:t>Kéo</a:t>
            </a:r>
            <a:r>
              <a:rPr sz="120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thả</a:t>
            </a:r>
            <a:r>
              <a:rPr sz="1200" dirty="0">
                <a:solidFill>
                  <a:srgbClr val="FFFFFF"/>
                </a:solidFill>
                <a:latin typeface="Roboto"/>
              </a:rPr>
              <a:t>, auto-save, preview A4</a:t>
            </a:r>
            <a:endParaRPr lang="vi-VN" sz="1200" dirty="0">
              <a:solidFill>
                <a:srgbClr val="FFFFFF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lang="vi-VN" sz="1200" dirty="0">
                <a:solidFill>
                  <a:srgbClr val="FFFFFF"/>
                </a:solidFill>
                <a:latin typeface="Roboto"/>
              </a:rPr>
              <a:t>Chấm điểm CV</a:t>
            </a:r>
          </a:p>
          <a:p>
            <a:pPr>
              <a:spcAft>
                <a:spcPts val="300"/>
              </a:spcAft>
            </a:pPr>
            <a:r>
              <a:rPr lang="vi-VN" sz="1200" dirty="0">
                <a:solidFill>
                  <a:srgbClr val="FFFFFF"/>
                </a:solidFill>
                <a:latin typeface="Roboto"/>
              </a:rPr>
              <a:t>Phân tích CV dựa trên Job Description</a:t>
            </a:r>
            <a:endParaRPr sz="1200" dirty="0">
              <a:solidFill>
                <a:srgbClr val="FFFFFF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sz="1200" dirty="0" err="1">
                <a:solidFill>
                  <a:srgbClr val="FFFFFF"/>
                </a:solidFill>
                <a:latin typeface="Roboto"/>
              </a:rPr>
              <a:t>Xuất</a:t>
            </a:r>
            <a:r>
              <a:rPr sz="1200" dirty="0">
                <a:solidFill>
                  <a:srgbClr val="FFFFFF"/>
                </a:solidFill>
                <a:latin typeface="Roboto"/>
              </a:rPr>
              <a:t> PDF + DOCX</a:t>
            </a:r>
            <a:endParaRPr lang="vi-VN" sz="120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320040" y="2834640"/>
            <a:ext cx="4133087" cy="1755648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11479" y="2889504"/>
            <a:ext cx="39502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"/>
              </a:rPr>
              <a:t>Hệ thống Web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29768" y="3200400"/>
            <a:ext cx="3913631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dirty="0">
                <a:solidFill>
                  <a:srgbClr val="FFFFFF"/>
                </a:solidFill>
                <a:latin typeface="Roboto"/>
              </a:rPr>
              <a:t>OAuth Google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FFFFFF"/>
                </a:solidFill>
                <a:latin typeface="Roboto"/>
              </a:rPr>
              <a:t>Guest session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không</a:t>
            </a:r>
            <a:r>
              <a:rPr sz="120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cần</a:t>
            </a:r>
            <a:r>
              <a:rPr sz="120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đăng</a:t>
            </a:r>
            <a:r>
              <a:rPr sz="120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ký</a:t>
            </a:r>
            <a:endParaRPr sz="1200" dirty="0">
              <a:solidFill>
                <a:srgbClr val="FFFFFF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sz="1200" dirty="0" err="1">
                <a:solidFill>
                  <a:srgbClr val="FFFFFF"/>
                </a:solidFill>
                <a:latin typeface="Roboto"/>
              </a:rPr>
              <a:t>Next.js</a:t>
            </a:r>
            <a:r>
              <a:rPr sz="1200" dirty="0">
                <a:solidFill>
                  <a:srgbClr val="FFFFFF"/>
                </a:solidFill>
                <a:latin typeface="Roboto"/>
              </a:rPr>
              <a:t> +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Supabase</a:t>
            </a:r>
            <a:r>
              <a:rPr sz="1200" dirty="0">
                <a:solidFill>
                  <a:srgbClr val="FFFFFF"/>
                </a:solidFill>
                <a:latin typeface="Roboto"/>
              </a:rPr>
              <a:t> +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Vercel</a:t>
            </a:r>
            <a:endParaRPr sz="120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4690872" y="2834640"/>
            <a:ext cx="4133087" cy="17556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4782312" y="2889504"/>
            <a:ext cx="39502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"/>
              </a:rPr>
              <a:t>Thí nghiệm Matching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800600" y="3200400"/>
            <a:ext cx="391363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dirty="0">
                <a:solidFill>
                  <a:srgbClr val="FFFFFF"/>
                </a:solidFill>
                <a:latin typeface="Roboto"/>
              </a:rPr>
              <a:t>Embedding ROC-AUC 0.766 (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tốt</a:t>
            </a:r>
            <a:r>
              <a:rPr sz="120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nhất</a:t>
            </a:r>
            <a:r>
              <a:rPr sz="1200" dirty="0">
                <a:solidFill>
                  <a:srgbClr val="FFFFFF"/>
                </a:solidFill>
                <a:latin typeface="Roboto"/>
              </a:rPr>
              <a:t>)</a:t>
            </a:r>
            <a:endParaRPr lang="en-US" sz="1200" dirty="0">
              <a:solidFill>
                <a:srgbClr val="FFFFFF"/>
              </a:solidFill>
              <a:latin typeface="Roboto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FFFFFF"/>
                </a:solidFill>
                <a:latin typeface="Roboto"/>
              </a:rPr>
              <a:t>Embedding: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nhanh</a:t>
            </a:r>
            <a:r>
              <a:rPr sz="1200" dirty="0">
                <a:solidFill>
                  <a:srgbClr val="FFFFFF"/>
                </a:solidFill>
                <a:latin typeface="Roboto"/>
              </a:rPr>
              <a:t> +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miễn</a:t>
            </a:r>
            <a:r>
              <a:rPr sz="120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Roboto"/>
              </a:rPr>
              <a:t>phí</a:t>
            </a:r>
            <a:endParaRPr sz="1200" dirty="0">
              <a:solidFill>
                <a:srgbClr val="FFFFFF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219"/>
          <p:cNvSpPr/>
          <p:nvPr/>
        </p:nvSpPr>
        <p:spPr>
          <a:xfrm>
            <a:off x="4526280" y="868680"/>
            <a:ext cx="3977639" cy="3611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419550" y="102550"/>
            <a:ext cx="83046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20" b="1">
                <a:solidFill>
                  <a:srgbClr val="0049AC"/>
                </a:solidFill>
                <a:latin typeface="Roboto"/>
                <a:ea typeface="Roboto"/>
                <a:cs typeface="Roboto"/>
                <a:sym typeface="Roboto"/>
              </a:rPr>
              <a:t>Kết luận &amp; Hướng phát triển</a:t>
            </a:r>
            <a:endParaRPr sz="4020" b="1">
              <a:solidFill>
                <a:srgbClr val="0049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lvl="0" indent="-342900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vi" sz="100" b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20040" y="868680"/>
            <a:ext cx="3977639" cy="361188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-</a:t>
            </a:r>
            <a:endParaRPr dirty="0"/>
          </a:p>
        </p:txBody>
      </p:sp>
      <p:sp>
        <p:nvSpPr>
          <p:cNvPr id="215" name="TextBox 214"/>
          <p:cNvSpPr txBox="1"/>
          <p:nvPr/>
        </p:nvSpPr>
        <p:spPr>
          <a:xfrm>
            <a:off x="457200" y="896112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8F00"/>
                </a:solidFill>
                <a:latin typeface="Roboto"/>
              </a:rPr>
              <a:t>Hạn chế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57200" y="1261872"/>
            <a:ext cx="3703320" cy="2743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4663440" y="1627632"/>
            <a:ext cx="356616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100" dirty="0">
                <a:solidFill>
                  <a:srgbClr val="2D2D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lang="en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Tích hợp OCR cho CV scan ảnh: . Tích hợp một mô hình OCR (như Tesseract hoặc PaddleOCR) để xử lý các CV đã được scan thành ảnh – một dạng phổ biến trong thực tế tuyển dụng</a:t>
            </a:r>
          </a:p>
          <a:p>
            <a:endParaRPr lang="en-VN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 Thiết kế thêm template đa dạng theo phong cách (tối giản, sáng tạo, chuyên nghiệp). Thêm tính năng  </a:t>
            </a:r>
          </a:p>
          <a:p>
            <a:r>
              <a:rPr lang="en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 upload và crop ảnh đại diện, lưu lên Vercel Blob</a:t>
            </a:r>
          </a:p>
          <a:p>
            <a:endParaRPr lang="en-VN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b="0" dirty="0">
                <a:solidFill>
                  <a:srgbClr val="2D2D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lang="en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Tích hợp API của các nền tảng tuyển dụng như </a:t>
            </a:r>
            <a:r>
              <a:rPr lang="en-V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LinkedIn</a:t>
            </a:r>
            <a:r>
              <a:rPr lang="en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V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TopCV</a:t>
            </a:r>
            <a:r>
              <a:rPr lang="en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hoặc </a:t>
            </a:r>
            <a:r>
              <a:rPr lang="en-V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ITViec</a:t>
            </a:r>
            <a:r>
              <a:rPr lang="en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để người dùng có thể ứng  tuyển trực tiếp</a:t>
            </a:r>
          </a:p>
          <a:p>
            <a:endParaRPr sz="1100" b="0" dirty="0">
              <a:solidFill>
                <a:srgbClr val="2D2D2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4663440" y="896112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49AC"/>
                </a:solidFill>
                <a:latin typeface="Roboto"/>
              </a:rPr>
              <a:t>Hướng phát triển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663440" y="1261872"/>
            <a:ext cx="3703320" cy="27432"/>
          </a:xfrm>
          <a:prstGeom prst="rect">
            <a:avLst/>
          </a:prstGeom>
          <a:solidFill>
            <a:srgbClr val="004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13A33-CA54-D52F-2807-7905AEF94B07}"/>
              </a:ext>
            </a:extLst>
          </p:cNvPr>
          <p:cNvSpPr txBox="1"/>
          <p:nvPr/>
        </p:nvSpPr>
        <p:spPr>
          <a:xfrm>
            <a:off x="525779" y="1558604"/>
            <a:ext cx="3566160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100" dirty="0">
                <a:solidFill>
                  <a:srgbClr val="2D2D2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Chưa hỗ trợ scan CV từ ảnh, hiện tại chỉ scan được từ word/ pdf</a:t>
            </a:r>
          </a:p>
          <a:p>
            <a:endParaRPr lang="vi-VN" sz="1100" b="0" dirty="0">
              <a:solidFill>
                <a:srgbClr val="2D2D2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Hiện tại số lượng template còn hạn chế. Ngoài ra chưa có ô upload ảnh đại diện </a:t>
            </a:r>
          </a:p>
          <a:p>
            <a:pPr marL="171450" indent="-171450">
              <a:buFontTx/>
              <a:buChar char="-"/>
            </a:pPr>
            <a:endParaRPr lang="en-VN" sz="1100" b="0" dirty="0">
              <a:solidFill>
                <a:srgbClr val="2D2D2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Người dùng soạn CV xong phải tự tải xuống rồi nộp thủ công ở nơi khác. Hệ thống chưa kết nối với bất kỳ nền tảng tuyển dụng nào.                       </a:t>
            </a:r>
          </a:p>
          <a:p>
            <a:pPr marL="171450" indent="-171450">
              <a:buFontTx/>
              <a:buChar char="-"/>
            </a:pPr>
            <a:endParaRPr lang="vi-VN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vi-V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Không có versioning CV — lỡ xóa không khôi phục được</a:t>
            </a:r>
          </a:p>
          <a:p>
            <a:endParaRPr sz="1050" b="0" dirty="0">
              <a:solidFill>
                <a:srgbClr val="2D2D2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title"/>
          </p:nvPr>
        </p:nvSpPr>
        <p:spPr>
          <a:xfrm>
            <a:off x="451200" y="1862550"/>
            <a:ext cx="8241600" cy="14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20" b="1">
                <a:solidFill>
                  <a:srgbClr val="0049AC"/>
                </a:solidFill>
                <a:latin typeface="Calibri"/>
                <a:ea typeface="Calibri"/>
                <a:cs typeface="Calibri"/>
                <a:sym typeface="Calibri"/>
              </a:rPr>
              <a:t>CẢM ƠN THẦY/CÔ ĐÃ LẮNG NGHE</a:t>
            </a:r>
            <a:endParaRPr sz="4520" b="1">
              <a:solidFill>
                <a:srgbClr val="0049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448056" y="3383280"/>
            <a:ext cx="82387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49AC"/>
                </a:solidFill>
                <a:latin typeface="Roboto"/>
              </a:rPr>
              <a:t>Lê Sỹ Đan — </a:t>
            </a:r>
            <a:r>
              <a:rPr lang="vi-VN" sz="1500" b="0">
                <a:solidFill>
                  <a:srgbClr val="0049AC"/>
                </a:solidFill>
                <a:latin typeface="Roboto"/>
              </a:rPr>
              <a:t>20020044</a:t>
            </a:r>
          </a:p>
          <a:p>
            <a:pPr algn="ctr"/>
            <a:r>
              <a:rPr sz="1500" b="0">
                <a:solidFill>
                  <a:srgbClr val="0049AC"/>
                </a:solidFill>
                <a:latin typeface="Roboto"/>
              </a:rPr>
              <a:t>    GVHD: </a:t>
            </a:r>
            <a:r>
              <a:rPr lang="en" sz="15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TS. Ma Thị Châu &amp; TS. Nguyễn Quang Trung</a:t>
            </a:r>
            <a:endParaRPr sz="1500" b="0">
              <a:solidFill>
                <a:schemeClr val="accent1">
                  <a:lumMod val="50000"/>
                </a:schemeClr>
              </a:solidFill>
              <a:latin typeface="Roboto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448056" y="3913632"/>
            <a:ext cx="8238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555555"/>
                </a:solidFill>
                <a:latin typeface="Roboto"/>
              </a:rPr>
              <a:t>GitHub: </a:t>
            </a:r>
            <a:r>
              <a:rPr sz="1300" b="0" dirty="0" err="1">
                <a:solidFill>
                  <a:srgbClr val="555555"/>
                </a:solidFill>
                <a:latin typeface="Roboto"/>
              </a:rPr>
              <a:t>github.com</a:t>
            </a:r>
            <a:r>
              <a:rPr sz="1300" b="0" dirty="0">
                <a:solidFill>
                  <a:srgbClr val="555555"/>
                </a:solidFill>
                <a:latin typeface="Roboto"/>
              </a:rPr>
              <a:t>/</a:t>
            </a:r>
            <a:r>
              <a:rPr sz="1300" b="0" dirty="0" err="1">
                <a:solidFill>
                  <a:srgbClr val="555555"/>
                </a:solidFill>
                <a:latin typeface="Roboto"/>
              </a:rPr>
              <a:t>LeSyDan</a:t>
            </a:r>
            <a:r>
              <a:rPr sz="1300" b="0" dirty="0">
                <a:solidFill>
                  <a:srgbClr val="555555"/>
                </a:solidFill>
                <a:latin typeface="Roboto"/>
              </a:rPr>
              <a:t>/cv-builder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1073</Words>
  <Application>Microsoft Macintosh PowerPoint</Application>
  <PresentationFormat>On-screen Show (16:9)</PresentationFormat>
  <Paragraphs>243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Roboto ExtraBold</vt:lpstr>
      <vt:lpstr>Calibri</vt:lpstr>
      <vt:lpstr>Tahoma</vt:lpstr>
      <vt:lpstr>Roboto</vt:lpstr>
      <vt:lpstr>Simple Light</vt:lpstr>
      <vt:lpstr>VNU University of Engineering and Technology Faculty of Information Technology</vt:lpstr>
      <vt:lpstr>Nội dung trình bày</vt:lpstr>
      <vt:lpstr>Bối cảnh &amp; Vấn đề</vt:lpstr>
      <vt:lpstr>Tại sao cần hệ thống này?</vt:lpstr>
      <vt:lpstr>PowerPoint Presentation</vt:lpstr>
      <vt:lpstr>Tại Pipeline phân tích CV hybrid</vt:lpstr>
      <vt:lpstr>Tính năng 1: Xác thực &amp; Guest Mode</vt:lpstr>
      <vt:lpstr>Tính năng 2: Upload &amp; Phân tích CV tự động</vt:lpstr>
      <vt:lpstr>Tính năng 3: Soạn thảo CV</vt:lpstr>
      <vt:lpstr>Tính năng 4: Chấm điểm CV</vt:lpstr>
      <vt:lpstr>Tính năng 5: Phân tích CV dựa trên Job Description</vt:lpstr>
      <vt:lpstr>Tính năng 6: Quản lý CV</vt:lpstr>
      <vt:lpstr>Tính năng 7: Gợi ý nâng cấp CV</vt:lpstr>
      <vt:lpstr>Tính năng 8: Tuỳ chỉnh giao diện CV</vt:lpstr>
      <vt:lpstr>Thí nghiệm So khớp CV–JD</vt:lpstr>
      <vt:lpstr>Thiết kế thí nghiệm</vt:lpstr>
      <vt:lpstr>Kết quả: Chất lượng Xếp hạng</vt:lpstr>
      <vt:lpstr>Kết quả: Chi phí &amp; Tốc độ</vt:lpstr>
      <vt:lpstr>Tóm tắt Kết quả</vt:lpstr>
      <vt:lpstr>Kết luận &amp; Hướng phát triển</vt:lpstr>
      <vt:lpstr>CẢM ƠN THẦY/CÔ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 Le</cp:lastModifiedBy>
  <cp:revision>5</cp:revision>
  <dcterms:modified xsi:type="dcterms:W3CDTF">2026-05-18T07:22:21Z</dcterms:modified>
</cp:coreProperties>
</file>